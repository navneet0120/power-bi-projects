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dumu Regular" charset="1" panose="02000503000000000000"/>
      <p:regular r:id="rId21"/>
    </p:embeddedFont>
    <p:embeddedFont>
      <p:font typeface="Open Sans Medium" charset="1" panose="00000000000000000000"/>
      <p:regular r:id="rId22"/>
    </p:embeddedFont>
    <p:embeddedFont>
      <p:font typeface="Open San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4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41.png" Type="http://schemas.openxmlformats.org/officeDocument/2006/relationships/image"/><Relationship Id="rId13" Target="../media/image4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912629" y="2908480"/>
            <a:ext cx="8754892" cy="8819031"/>
          </a:xfrm>
          <a:custGeom>
            <a:avLst/>
            <a:gdLst/>
            <a:ahLst/>
            <a:cxnLst/>
            <a:rect r="r" b="b" t="t" l="l"/>
            <a:pathLst>
              <a:path h="8819031" w="8754892">
                <a:moveTo>
                  <a:pt x="0" y="0"/>
                </a:moveTo>
                <a:lnTo>
                  <a:pt x="8754893" y="0"/>
                </a:lnTo>
                <a:lnTo>
                  <a:pt x="8754893" y="8819031"/>
                </a:lnTo>
                <a:lnTo>
                  <a:pt x="0" y="8819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1779039" y="3641161"/>
            <a:ext cx="8253164" cy="8374982"/>
          </a:xfrm>
          <a:custGeom>
            <a:avLst/>
            <a:gdLst/>
            <a:ahLst/>
            <a:cxnLst/>
            <a:rect r="r" b="b" t="t" l="l"/>
            <a:pathLst>
              <a:path h="8374982" w="8253164">
                <a:moveTo>
                  <a:pt x="8253163" y="0"/>
                </a:moveTo>
                <a:lnTo>
                  <a:pt x="0" y="0"/>
                </a:lnTo>
                <a:lnTo>
                  <a:pt x="0" y="8374982"/>
                </a:lnTo>
                <a:lnTo>
                  <a:pt x="8253163" y="8374982"/>
                </a:lnTo>
                <a:lnTo>
                  <a:pt x="82531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84621">
            <a:off x="6461491" y="5434241"/>
            <a:ext cx="5692664" cy="3767509"/>
          </a:xfrm>
          <a:custGeom>
            <a:avLst/>
            <a:gdLst/>
            <a:ahLst/>
            <a:cxnLst/>
            <a:rect r="r" b="b" t="t" l="l"/>
            <a:pathLst>
              <a:path h="3767509" w="5692664">
                <a:moveTo>
                  <a:pt x="0" y="0"/>
                </a:moveTo>
                <a:lnTo>
                  <a:pt x="5692664" y="0"/>
                </a:lnTo>
                <a:lnTo>
                  <a:pt x="5692664" y="3767509"/>
                </a:lnTo>
                <a:lnTo>
                  <a:pt x="0" y="37675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482527" y="643345"/>
            <a:ext cx="15322946" cy="1466882"/>
          </a:xfrm>
          <a:prstGeom prst="rect">
            <a:avLst/>
          </a:prstGeom>
        </p:spPr>
        <p:txBody>
          <a:bodyPr anchor="t" rtlCol="false" tIns="0" lIns="0" bIns="0" rIns="0">
            <a:spAutoFit/>
          </a:bodyPr>
          <a:lstStyle/>
          <a:p>
            <a:pPr algn="ctr">
              <a:lnSpc>
                <a:spcPts val="9905"/>
              </a:lnSpc>
            </a:pPr>
            <a:r>
              <a:rPr lang="en-US" sz="11129">
                <a:solidFill>
                  <a:srgbClr val="F5BA01"/>
                </a:solidFill>
                <a:latin typeface="Adumu Regular"/>
                <a:ea typeface="Adumu Regular"/>
                <a:cs typeface="Adumu Regular"/>
                <a:sym typeface="Adumu Regular"/>
              </a:rPr>
              <a:t>Financial Analysis</a:t>
            </a:r>
          </a:p>
        </p:txBody>
      </p:sp>
      <p:sp>
        <p:nvSpPr>
          <p:cNvPr name="TextBox 12" id="12"/>
          <p:cNvSpPr txBox="true"/>
          <p:nvPr/>
        </p:nvSpPr>
        <p:spPr>
          <a:xfrm rot="0">
            <a:off x="2133163" y="2300727"/>
            <a:ext cx="13482738" cy="1186681"/>
          </a:xfrm>
          <a:prstGeom prst="rect">
            <a:avLst/>
          </a:prstGeom>
        </p:spPr>
        <p:txBody>
          <a:bodyPr anchor="t" rtlCol="false" tIns="0" lIns="0" bIns="0" rIns="0">
            <a:spAutoFit/>
          </a:bodyPr>
          <a:lstStyle/>
          <a:p>
            <a:pPr algn="ctr">
              <a:lnSpc>
                <a:spcPts val="8093"/>
              </a:lnSpc>
            </a:pPr>
            <a:r>
              <a:rPr lang="en-US" sz="9093">
                <a:solidFill>
                  <a:srgbClr val="00BF63"/>
                </a:solidFill>
                <a:latin typeface="Adumu Regular"/>
                <a:ea typeface="Adumu Regular"/>
                <a:cs typeface="Adumu Regular"/>
                <a:sym typeface="Adumu Regular"/>
              </a:rPr>
              <a:t>Using DAX Query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TextBox 8" id="8"/>
          <p:cNvSpPr txBox="true"/>
          <p:nvPr/>
        </p:nvSpPr>
        <p:spPr>
          <a:xfrm rot="0">
            <a:off x="401947" y="2555616"/>
            <a:ext cx="7171997" cy="7174202"/>
          </a:xfrm>
          <a:prstGeom prst="rect">
            <a:avLst/>
          </a:prstGeom>
        </p:spPr>
        <p:txBody>
          <a:bodyPr anchor="t" rtlCol="false" tIns="0" lIns="0" bIns="0" rIns="0">
            <a:spAutoFit/>
          </a:bodyPr>
          <a:lstStyle/>
          <a:p>
            <a:pPr algn="l">
              <a:lnSpc>
                <a:spcPts val="4096"/>
              </a:lnSpc>
              <a:spcBef>
                <a:spcPct val="0"/>
              </a:spcBef>
            </a:pPr>
            <a:r>
              <a:rPr lang="en-US" b="true" sz="2926">
                <a:solidFill>
                  <a:srgbClr val="00BF63"/>
                </a:solidFill>
                <a:latin typeface="Open Sans Medium"/>
                <a:ea typeface="Open Sans Medium"/>
                <a:cs typeface="Open Sans Medium"/>
                <a:sym typeface="Open Sans Medium"/>
              </a:rPr>
              <a:t>You are a </a:t>
            </a:r>
            <a:r>
              <a:rPr lang="en-US" b="true" sz="2926">
                <a:solidFill>
                  <a:srgbClr val="00BF63"/>
                </a:solidFill>
                <a:latin typeface="Open Sans Medium"/>
                <a:ea typeface="Open Sans Medium"/>
                <a:cs typeface="Open Sans Medium"/>
                <a:sym typeface="Open Sans Medium"/>
              </a:rPr>
              <a:t>Financial Data Analyst tasked with analyzing credit card usage and financial metrics for a banking institution. Using the provided data, you will create reports in Power BI by applying DAX functions. Your goal is to calculate financial metrics like running totals, moving averages, and growth rates, and generate KPIs that assess customer behavior, credit utilization, and delinquency risk. The analysis will provide key insights for improving customer retention and financial performance.</a:t>
            </a:r>
          </a:p>
        </p:txBody>
      </p:sp>
      <p:sp>
        <p:nvSpPr>
          <p:cNvPr name="Freeform 9" id="9"/>
          <p:cNvSpPr/>
          <p:nvPr/>
        </p:nvSpPr>
        <p:spPr>
          <a:xfrm flipH="false" flipV="false" rot="-231294">
            <a:off x="9007700" y="987712"/>
            <a:ext cx="3669389" cy="5606011"/>
          </a:xfrm>
          <a:custGeom>
            <a:avLst/>
            <a:gdLst/>
            <a:ahLst/>
            <a:cxnLst/>
            <a:rect r="r" b="b" t="t" l="l"/>
            <a:pathLst>
              <a:path h="5606011" w="3669389">
                <a:moveTo>
                  <a:pt x="0" y="0"/>
                </a:moveTo>
                <a:lnTo>
                  <a:pt x="3669389" y="0"/>
                </a:lnTo>
                <a:lnTo>
                  <a:pt x="3669389" y="5606011"/>
                </a:lnTo>
                <a:lnTo>
                  <a:pt x="0" y="5606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79080">
            <a:off x="11740617" y="4042987"/>
            <a:ext cx="5477715" cy="3625251"/>
          </a:xfrm>
          <a:custGeom>
            <a:avLst/>
            <a:gdLst/>
            <a:ahLst/>
            <a:cxnLst/>
            <a:rect r="r" b="b" t="t" l="l"/>
            <a:pathLst>
              <a:path h="3625251" w="5477715">
                <a:moveTo>
                  <a:pt x="0" y="0"/>
                </a:moveTo>
                <a:lnTo>
                  <a:pt x="5477715" y="0"/>
                </a:lnTo>
                <a:lnTo>
                  <a:pt x="5477715" y="3625251"/>
                </a:lnTo>
                <a:lnTo>
                  <a:pt x="0" y="36252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56691">
            <a:off x="7911234" y="4431499"/>
            <a:ext cx="4841557" cy="4877026"/>
          </a:xfrm>
          <a:custGeom>
            <a:avLst/>
            <a:gdLst/>
            <a:ahLst/>
            <a:cxnLst/>
            <a:rect r="r" b="b" t="t" l="l"/>
            <a:pathLst>
              <a:path h="4877026" w="4841557">
                <a:moveTo>
                  <a:pt x="0" y="0"/>
                </a:moveTo>
                <a:lnTo>
                  <a:pt x="4841557" y="0"/>
                </a:lnTo>
                <a:lnTo>
                  <a:pt x="4841557" y="4877027"/>
                </a:lnTo>
                <a:lnTo>
                  <a:pt x="0" y="48770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4479474" y="6710728"/>
            <a:ext cx="5220231" cy="4593803"/>
          </a:xfrm>
          <a:custGeom>
            <a:avLst/>
            <a:gdLst/>
            <a:ahLst/>
            <a:cxnLst/>
            <a:rect r="r" b="b" t="t" l="l"/>
            <a:pathLst>
              <a:path h="4593803" w="5220231">
                <a:moveTo>
                  <a:pt x="0" y="0"/>
                </a:moveTo>
                <a:lnTo>
                  <a:pt x="5220231" y="0"/>
                </a:lnTo>
                <a:lnTo>
                  <a:pt x="5220231" y="4593803"/>
                </a:lnTo>
                <a:lnTo>
                  <a:pt x="0" y="45938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305508">
            <a:off x="12475163" y="1146008"/>
            <a:ext cx="2712126" cy="1543446"/>
          </a:xfrm>
          <a:custGeom>
            <a:avLst/>
            <a:gdLst/>
            <a:ahLst/>
            <a:cxnLst/>
            <a:rect r="r" b="b" t="t" l="l"/>
            <a:pathLst>
              <a:path h="1543446" w="2712126">
                <a:moveTo>
                  <a:pt x="0" y="0"/>
                </a:moveTo>
                <a:lnTo>
                  <a:pt x="2712126" y="0"/>
                </a:lnTo>
                <a:lnTo>
                  <a:pt x="2712126" y="1543446"/>
                </a:lnTo>
                <a:lnTo>
                  <a:pt x="0" y="15434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262440">
            <a:off x="15133870" y="-726137"/>
            <a:ext cx="4250860" cy="4150385"/>
          </a:xfrm>
          <a:custGeom>
            <a:avLst/>
            <a:gdLst/>
            <a:ahLst/>
            <a:cxnLst/>
            <a:rect r="r" b="b" t="t" l="l"/>
            <a:pathLst>
              <a:path h="4150385" w="4250860">
                <a:moveTo>
                  <a:pt x="4250860" y="0"/>
                </a:moveTo>
                <a:lnTo>
                  <a:pt x="0" y="0"/>
                </a:lnTo>
                <a:lnTo>
                  <a:pt x="0" y="4150385"/>
                </a:lnTo>
                <a:lnTo>
                  <a:pt x="4250860" y="4150385"/>
                </a:lnTo>
                <a:lnTo>
                  <a:pt x="425086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401947" y="294894"/>
            <a:ext cx="7400692" cy="2308347"/>
          </a:xfrm>
          <a:prstGeom prst="rect">
            <a:avLst/>
          </a:prstGeom>
        </p:spPr>
        <p:txBody>
          <a:bodyPr anchor="t" rtlCol="false" tIns="0" lIns="0" bIns="0" rIns="0">
            <a:spAutoFit/>
          </a:bodyPr>
          <a:lstStyle/>
          <a:p>
            <a:pPr algn="l">
              <a:lnSpc>
                <a:spcPts val="8472"/>
              </a:lnSpc>
            </a:pPr>
            <a:r>
              <a:rPr lang="en-US" sz="9519">
                <a:solidFill>
                  <a:srgbClr val="F5BA01"/>
                </a:solidFill>
                <a:latin typeface="Adumu Regular"/>
                <a:ea typeface="Adumu Regular"/>
                <a:cs typeface="Adumu Regular"/>
                <a:sym typeface="Adumu Regular"/>
              </a:rPr>
              <a:t>Case Background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170466" y="8285165"/>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4024182" y="6650885"/>
            <a:ext cx="4958828" cy="5214829"/>
          </a:xfrm>
          <a:custGeom>
            <a:avLst/>
            <a:gdLst/>
            <a:ahLst/>
            <a:cxnLst/>
            <a:rect r="r" b="b" t="t" l="l"/>
            <a:pathLst>
              <a:path h="5214829" w="4958828">
                <a:moveTo>
                  <a:pt x="4958828" y="0"/>
                </a:moveTo>
                <a:lnTo>
                  <a:pt x="0" y="0"/>
                </a:lnTo>
                <a:lnTo>
                  <a:pt x="0" y="5214830"/>
                </a:lnTo>
                <a:lnTo>
                  <a:pt x="4958828" y="5214830"/>
                </a:lnTo>
                <a:lnTo>
                  <a:pt x="49588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994847" y="200025"/>
            <a:ext cx="12881361" cy="1241547"/>
          </a:xfrm>
          <a:prstGeom prst="rect">
            <a:avLst/>
          </a:prstGeom>
        </p:spPr>
        <p:txBody>
          <a:bodyPr anchor="t" rtlCol="false" tIns="0" lIns="0" bIns="0" rIns="0">
            <a:spAutoFit/>
          </a:bodyPr>
          <a:lstStyle/>
          <a:p>
            <a:pPr algn="ctr">
              <a:lnSpc>
                <a:spcPts val="8472"/>
              </a:lnSpc>
            </a:pPr>
            <a:r>
              <a:rPr lang="en-US" sz="9519">
                <a:solidFill>
                  <a:srgbClr val="F5BA01"/>
                </a:solidFill>
                <a:latin typeface="Adumu Regular"/>
                <a:ea typeface="Adumu Regular"/>
                <a:cs typeface="Adumu Regular"/>
                <a:sym typeface="Adumu Regular"/>
              </a:rPr>
              <a:t>Problem Statements</a:t>
            </a:r>
          </a:p>
        </p:txBody>
      </p:sp>
      <p:sp>
        <p:nvSpPr>
          <p:cNvPr name="Freeform 11" id="11"/>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2579036" y="1374897"/>
            <a:ext cx="12275407" cy="7473287"/>
          </a:xfrm>
          <a:prstGeom prst="rect">
            <a:avLst/>
          </a:prstGeom>
        </p:spPr>
        <p:txBody>
          <a:bodyPr anchor="t" rtlCol="false" tIns="0" lIns="0" bIns="0" rIns="0">
            <a:spAutoFit/>
          </a:bodyPr>
          <a:lstStyle/>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Running Total of Credit Card Transactions</a:t>
            </a:r>
          </a:p>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Calculate the 4-week moving average of the creditLimit for each client.</a:t>
            </a:r>
          </a:p>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Calculate the mom% growth and wow% groth on transaction amount.</a:t>
            </a:r>
          </a:p>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Calculate Customer Acquisition Cost (CAC) as a Ratio of Transaction Amount.</a:t>
            </a:r>
          </a:p>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Calculate the yearly average of avg_utilization_ratio for all clients.</a:t>
            </a:r>
          </a:p>
          <a:p>
            <a:pPr algn="just" marL="718100" indent="-359050" lvl="1">
              <a:lnSpc>
                <a:spcPts val="4656"/>
              </a:lnSpc>
              <a:buAutoNum type="arabicPeriod" startAt="1"/>
            </a:pPr>
            <a:r>
              <a:rPr lang="en-US" b="true" sz="3326">
                <a:solidFill>
                  <a:srgbClr val="00BF63"/>
                </a:solidFill>
                <a:latin typeface="Open Sans Medium"/>
                <a:ea typeface="Open Sans Medium"/>
                <a:cs typeface="Open Sans Medium"/>
                <a:sym typeface="Open Sans Medium"/>
              </a:rPr>
              <a:t>Calculate the percentage of Interest_Earned compared to Total_Revolving_Bal for each client.</a:t>
            </a:r>
          </a:p>
          <a:p>
            <a:pPr algn="just">
              <a:lnSpc>
                <a:spcPts val="4656"/>
              </a:lnSpc>
              <a:spcBef>
                <a:spcPct val="0"/>
              </a:spcBef>
            </a:pPr>
            <a:r>
              <a:rPr lang="en-US" b="true" sz="3326">
                <a:solidFill>
                  <a:srgbClr val="00BF63"/>
                </a:solidFill>
                <a:latin typeface="Open Sans Medium"/>
                <a:ea typeface="Open Sans Medium"/>
                <a:cs typeface="Open Sans Medium"/>
                <a:sym typeface="Open Sans Medium"/>
              </a:rPr>
              <a:t>   7. </a:t>
            </a:r>
            <a:r>
              <a:rPr lang="en-US" b="true" sz="3326">
                <a:solidFill>
                  <a:srgbClr val="00BF63"/>
                </a:solidFill>
                <a:latin typeface="Open Sans Medium"/>
                <a:ea typeface="Open Sans Medium"/>
                <a:cs typeface="Open Sans Medium"/>
                <a:sym typeface="Open Sans Medium"/>
              </a:rPr>
              <a:t>Calculate Top 5 Clients by Total Transaction Amount.</a:t>
            </a:r>
          </a:p>
          <a:p>
            <a:pPr algn="just">
              <a:lnSpc>
                <a:spcPts val="311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5141633" y="521861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994847" y="200025"/>
            <a:ext cx="12881361" cy="1241547"/>
          </a:xfrm>
          <a:prstGeom prst="rect">
            <a:avLst/>
          </a:prstGeom>
        </p:spPr>
        <p:txBody>
          <a:bodyPr anchor="t" rtlCol="false" tIns="0" lIns="0" bIns="0" rIns="0">
            <a:spAutoFit/>
          </a:bodyPr>
          <a:lstStyle/>
          <a:p>
            <a:pPr algn="ctr">
              <a:lnSpc>
                <a:spcPts val="8472"/>
              </a:lnSpc>
            </a:pPr>
            <a:r>
              <a:rPr lang="en-US" sz="9519">
                <a:solidFill>
                  <a:srgbClr val="F5BA01"/>
                </a:solidFill>
                <a:latin typeface="Adumu Regular"/>
                <a:ea typeface="Adumu Regular"/>
                <a:cs typeface="Adumu Regular"/>
                <a:sym typeface="Adumu Regular"/>
              </a:rPr>
              <a:t>Problem Statements</a:t>
            </a:r>
          </a:p>
        </p:txBody>
      </p:sp>
      <p:sp>
        <p:nvSpPr>
          <p:cNvPr name="Freeform 11" id="11"/>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2579036" y="1393947"/>
            <a:ext cx="12275407" cy="8794087"/>
          </a:xfrm>
          <a:prstGeom prst="rect">
            <a:avLst/>
          </a:prstGeom>
        </p:spPr>
        <p:txBody>
          <a:bodyPr anchor="t" rtlCol="false" tIns="0" lIns="0" bIns="0" rIns="0">
            <a:spAutoFit/>
          </a:bodyPr>
          <a:lstStyle/>
          <a:p>
            <a:pPr algn="just">
              <a:lnSpc>
                <a:spcPts val="3956"/>
              </a:lnSpc>
            </a:pPr>
            <a:r>
              <a:rPr lang="en-US" sz="2826" b="true">
                <a:solidFill>
                  <a:srgbClr val="00BF63"/>
                </a:solidFill>
                <a:latin typeface="Open Sans Medium"/>
                <a:ea typeface="Open Sans Medium"/>
                <a:cs typeface="Open Sans Medium"/>
                <a:sym typeface="Open Sans Medium"/>
              </a:rPr>
              <a:t>8. Identify clients whose Avg_Utilization_Ratio exceeds 80%.</a:t>
            </a:r>
          </a:p>
          <a:p>
            <a:pPr algn="just">
              <a:lnSpc>
                <a:spcPts val="3956"/>
              </a:lnSpc>
            </a:pPr>
            <a:r>
              <a:rPr lang="en-US" sz="2826">
                <a:solidFill>
                  <a:srgbClr val="00BF63"/>
                </a:solidFill>
                <a:latin typeface="Open Sans"/>
                <a:ea typeface="Open Sans"/>
                <a:cs typeface="Open Sans"/>
                <a:sym typeface="Open Sans"/>
              </a:rPr>
              <a:t>9.</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Customer Churn Indicator: Create a KPI that flags clients who have not made any transactions (Total_Trans_Amt = 0) in the last 6 months.</a:t>
            </a:r>
          </a:p>
          <a:p>
            <a:pPr algn="just">
              <a:lnSpc>
                <a:spcPts val="3956"/>
              </a:lnSpc>
            </a:pPr>
            <a:r>
              <a:rPr lang="en-US" sz="2826">
                <a:solidFill>
                  <a:srgbClr val="00BF63"/>
                </a:solidFill>
                <a:latin typeface="Open Sans"/>
                <a:ea typeface="Open Sans"/>
                <a:cs typeface="Open Sans"/>
                <a:sym typeface="Open Sans"/>
              </a:rPr>
              <a:t>10.</a:t>
            </a:r>
            <a:r>
              <a:rPr lang="en-US" sz="2826" b="true">
                <a:solidFill>
                  <a:srgbClr val="00BF63"/>
                </a:solidFill>
                <a:latin typeface="Open Sans Medium"/>
                <a:ea typeface="Open Sans Medium"/>
                <a:cs typeface="Open Sans Medium"/>
                <a:sym typeface="Open Sans Medium"/>
              </a:rPr>
              <a:t>Delinquency Rate: Calculate the percentage of clients with Delinquent_Acc &gt; 0.</a:t>
            </a:r>
          </a:p>
          <a:p>
            <a:pPr algn="just">
              <a:lnSpc>
                <a:spcPts val="3956"/>
              </a:lnSpc>
            </a:pPr>
            <a:r>
              <a:rPr lang="en-US" sz="2826">
                <a:solidFill>
                  <a:srgbClr val="00BF63"/>
                </a:solidFill>
                <a:latin typeface="Open Sans"/>
                <a:ea typeface="Open Sans"/>
                <a:cs typeface="Open Sans"/>
                <a:sym typeface="Open Sans"/>
              </a:rPr>
              <a:t>11.</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Credit Risk Score: Create a score for each client based on their Avg_Utilization_Ratio, Delinquent_Acc, and Total_Revolving_Bal.</a:t>
            </a:r>
          </a:p>
          <a:p>
            <a:pPr algn="just">
              <a:lnSpc>
                <a:spcPts val="3956"/>
              </a:lnSpc>
            </a:pPr>
            <a:r>
              <a:rPr lang="en-US" sz="2826">
                <a:solidFill>
                  <a:srgbClr val="00BF63"/>
                </a:solidFill>
                <a:latin typeface="Open Sans"/>
                <a:ea typeface="Open Sans"/>
                <a:cs typeface="Open Sans"/>
                <a:sym typeface="Open Sans"/>
              </a:rPr>
              <a:t>12.</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Income vs Credit Limit Correlation: Show the correlation between Income and Credit_Limit for all clients.</a:t>
            </a:r>
          </a:p>
          <a:p>
            <a:pPr algn="just">
              <a:lnSpc>
                <a:spcPts val="3956"/>
              </a:lnSpc>
            </a:pPr>
            <a:r>
              <a:rPr lang="en-US" sz="2826">
                <a:solidFill>
                  <a:srgbClr val="00BF63"/>
                </a:solidFill>
                <a:latin typeface="Open Sans"/>
                <a:ea typeface="Open Sans"/>
                <a:cs typeface="Open Sans"/>
                <a:sym typeface="Open Sans"/>
              </a:rPr>
              <a:t>13.</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Average Customer Satisfaction Score by Credit Card Category: Calculate the average Cust_Satisfaction_Score by Card_Category.</a:t>
            </a:r>
          </a:p>
          <a:p>
            <a:pPr algn="just">
              <a:lnSpc>
                <a:spcPts val="3956"/>
              </a:lnSpc>
            </a:pPr>
            <a:r>
              <a:rPr lang="en-US" sz="2826">
                <a:solidFill>
                  <a:srgbClr val="00BF63"/>
                </a:solidFill>
                <a:latin typeface="Open Sans"/>
                <a:ea typeface="Open Sans"/>
                <a:cs typeface="Open Sans"/>
                <a:sym typeface="Open Sans"/>
              </a:rPr>
              <a:t>14.</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Loan Approval vs Credit Limit: Analyze how Credit_Limit affects Personal_loan approval by calculating the average credit limit for clients with and without loans.</a:t>
            </a:r>
          </a:p>
          <a:p>
            <a:pPr algn="just">
              <a:lnSpc>
                <a:spcPts val="3956"/>
              </a:lnSpc>
            </a:pPr>
            <a:r>
              <a:rPr lang="en-US" sz="2826">
                <a:solidFill>
                  <a:srgbClr val="00BF63"/>
                </a:solidFill>
                <a:latin typeface="Open Sans"/>
                <a:ea typeface="Open Sans"/>
                <a:cs typeface="Open Sans"/>
                <a:sym typeface="Open Sans"/>
              </a:rPr>
              <a:t>15.</a:t>
            </a:r>
            <a:r>
              <a:rPr lang="en-US" sz="2826" b="true">
                <a:solidFill>
                  <a:srgbClr val="00BF63"/>
                </a:solidFill>
                <a:latin typeface="Open Sans Medium"/>
                <a:ea typeface="Open Sans Medium"/>
                <a:cs typeface="Open Sans Medium"/>
                <a:sym typeface="Open Sans Medium"/>
              </a:rPr>
              <a:t> </a:t>
            </a:r>
            <a:r>
              <a:rPr lang="en-US" sz="2826" b="true">
                <a:solidFill>
                  <a:srgbClr val="00BF63"/>
                </a:solidFill>
                <a:latin typeface="Open Sans Medium"/>
                <a:ea typeface="Open Sans Medium"/>
                <a:cs typeface="Open Sans Medium"/>
                <a:sym typeface="Open Sans Medium"/>
              </a:rPr>
              <a:t>High Risk Clients Flag: Create a flag for clients whose Total_Revolving_Bal exceeds 90% of their Credit_Limit and who have a high Avg_Utilization_Ratio.</a:t>
            </a:r>
          </a:p>
          <a:p>
            <a:pPr algn="just">
              <a:lnSpc>
                <a:spcPts val="311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5141633" y="521861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579036" y="3161514"/>
            <a:ext cx="15237392" cy="1657066"/>
          </a:xfrm>
          <a:custGeom>
            <a:avLst/>
            <a:gdLst/>
            <a:ahLst/>
            <a:cxnLst/>
            <a:rect r="r" b="b" t="t" l="l"/>
            <a:pathLst>
              <a:path h="1657066" w="15237392">
                <a:moveTo>
                  <a:pt x="0" y="0"/>
                </a:moveTo>
                <a:lnTo>
                  <a:pt x="15237392" y="0"/>
                </a:lnTo>
                <a:lnTo>
                  <a:pt x="15237392" y="1657066"/>
                </a:lnTo>
                <a:lnTo>
                  <a:pt x="0" y="1657066"/>
                </a:lnTo>
                <a:lnTo>
                  <a:pt x="0" y="0"/>
                </a:lnTo>
                <a:close/>
              </a:path>
            </a:pathLst>
          </a:custGeom>
          <a:blipFill>
            <a:blip r:embed="rId10"/>
            <a:stretch>
              <a:fillRect l="0" t="0" r="0" b="0"/>
            </a:stretch>
          </a:blipFill>
        </p:spPr>
      </p:sp>
      <p:sp>
        <p:nvSpPr>
          <p:cNvPr name="Freeform 12" id="12"/>
          <p:cNvSpPr/>
          <p:nvPr/>
        </p:nvSpPr>
        <p:spPr>
          <a:xfrm flipH="false" flipV="false" rot="0">
            <a:off x="6311997" y="5143500"/>
            <a:ext cx="7771469" cy="4400594"/>
          </a:xfrm>
          <a:custGeom>
            <a:avLst/>
            <a:gdLst/>
            <a:ahLst/>
            <a:cxnLst/>
            <a:rect r="r" b="b" t="t" l="l"/>
            <a:pathLst>
              <a:path h="4400594" w="7771469">
                <a:moveTo>
                  <a:pt x="0" y="0"/>
                </a:moveTo>
                <a:lnTo>
                  <a:pt x="7771469" y="0"/>
                </a:lnTo>
                <a:lnTo>
                  <a:pt x="7771469" y="4400594"/>
                </a:lnTo>
                <a:lnTo>
                  <a:pt x="0" y="4400594"/>
                </a:lnTo>
                <a:lnTo>
                  <a:pt x="0" y="0"/>
                </a:lnTo>
                <a:close/>
              </a:path>
            </a:pathLst>
          </a:custGeom>
          <a:blipFill>
            <a:blip r:embed="rId11"/>
            <a:stretch>
              <a:fillRect l="0" t="0" r="0" b="0"/>
            </a:stretch>
          </a:blipFill>
        </p:spPr>
      </p:sp>
      <p:sp>
        <p:nvSpPr>
          <p:cNvPr name="TextBox 13" id="13"/>
          <p:cNvSpPr txBox="true"/>
          <p:nvPr/>
        </p:nvSpPr>
        <p:spPr>
          <a:xfrm rot="0">
            <a:off x="2125591" y="123825"/>
            <a:ext cx="14750618" cy="1465723"/>
          </a:xfrm>
          <a:prstGeom prst="rect">
            <a:avLst/>
          </a:prstGeom>
        </p:spPr>
        <p:txBody>
          <a:bodyPr anchor="t" rtlCol="false" tIns="0" lIns="0" bIns="0" rIns="0">
            <a:spAutoFit/>
          </a:bodyPr>
          <a:lstStyle/>
          <a:p>
            <a:pPr algn="ctr">
              <a:lnSpc>
                <a:spcPts val="5357"/>
              </a:lnSpc>
            </a:pPr>
            <a:r>
              <a:rPr lang="en-US" sz="6019">
                <a:solidFill>
                  <a:srgbClr val="F5BA01"/>
                </a:solidFill>
                <a:latin typeface="Adumu Regular"/>
                <a:ea typeface="Adumu Regular"/>
                <a:cs typeface="Adumu Regular"/>
                <a:sym typeface="Adumu Regular"/>
              </a:rPr>
              <a:t>1.Running Total of Credit Card   Transactions</a:t>
            </a:r>
          </a:p>
        </p:txBody>
      </p:sp>
      <p:sp>
        <p:nvSpPr>
          <p:cNvPr name="TextBox 14" id="14"/>
          <p:cNvSpPr txBox="true"/>
          <p:nvPr/>
        </p:nvSpPr>
        <p:spPr>
          <a:xfrm rot="0">
            <a:off x="-2815427" y="2372066"/>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5" id="15"/>
          <p:cNvSpPr txBox="true"/>
          <p:nvPr/>
        </p:nvSpPr>
        <p:spPr>
          <a:xfrm rot="0">
            <a:off x="-3714746" y="5599630"/>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Output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3977730" y="620152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125591" y="2502821"/>
            <a:ext cx="15693517" cy="3413340"/>
          </a:xfrm>
          <a:custGeom>
            <a:avLst/>
            <a:gdLst/>
            <a:ahLst/>
            <a:cxnLst/>
            <a:rect r="r" b="b" t="t" l="l"/>
            <a:pathLst>
              <a:path h="3413340" w="15693517">
                <a:moveTo>
                  <a:pt x="0" y="0"/>
                </a:moveTo>
                <a:lnTo>
                  <a:pt x="15693516" y="0"/>
                </a:lnTo>
                <a:lnTo>
                  <a:pt x="15693516" y="3413340"/>
                </a:lnTo>
                <a:lnTo>
                  <a:pt x="0" y="3413340"/>
                </a:lnTo>
                <a:lnTo>
                  <a:pt x="0" y="0"/>
                </a:lnTo>
                <a:close/>
              </a:path>
            </a:pathLst>
          </a:custGeom>
          <a:blipFill>
            <a:blip r:embed="rId10"/>
            <a:stretch>
              <a:fillRect l="0" t="0" r="0" b="0"/>
            </a:stretch>
          </a:blipFill>
        </p:spPr>
      </p:sp>
      <p:sp>
        <p:nvSpPr>
          <p:cNvPr name="Freeform 12" id="12"/>
          <p:cNvSpPr/>
          <p:nvPr/>
        </p:nvSpPr>
        <p:spPr>
          <a:xfrm flipH="false" flipV="false" rot="0">
            <a:off x="5119317" y="6201521"/>
            <a:ext cx="8049367" cy="4085479"/>
          </a:xfrm>
          <a:custGeom>
            <a:avLst/>
            <a:gdLst/>
            <a:ahLst/>
            <a:cxnLst/>
            <a:rect r="r" b="b" t="t" l="l"/>
            <a:pathLst>
              <a:path h="4085479" w="8049367">
                <a:moveTo>
                  <a:pt x="0" y="0"/>
                </a:moveTo>
                <a:lnTo>
                  <a:pt x="8049366" y="0"/>
                </a:lnTo>
                <a:lnTo>
                  <a:pt x="8049366" y="4085479"/>
                </a:lnTo>
                <a:lnTo>
                  <a:pt x="0" y="4085479"/>
                </a:lnTo>
                <a:lnTo>
                  <a:pt x="0" y="0"/>
                </a:lnTo>
                <a:close/>
              </a:path>
            </a:pathLst>
          </a:custGeom>
          <a:blipFill>
            <a:blip r:embed="rId11"/>
            <a:stretch>
              <a:fillRect l="0" t="0" r="0" b="0"/>
            </a:stretch>
          </a:blipFill>
        </p:spPr>
      </p:sp>
      <p:sp>
        <p:nvSpPr>
          <p:cNvPr name="TextBox 13" id="13"/>
          <p:cNvSpPr txBox="true"/>
          <p:nvPr/>
        </p:nvSpPr>
        <p:spPr>
          <a:xfrm rot="0">
            <a:off x="2125591" y="95250"/>
            <a:ext cx="14750618" cy="2004394"/>
          </a:xfrm>
          <a:prstGeom prst="rect">
            <a:avLst/>
          </a:prstGeom>
        </p:spPr>
        <p:txBody>
          <a:bodyPr anchor="t" rtlCol="false" tIns="0" lIns="0" bIns="0" rIns="0">
            <a:spAutoFit/>
          </a:bodyPr>
          <a:lstStyle/>
          <a:p>
            <a:pPr algn="ctr">
              <a:lnSpc>
                <a:spcPts val="4734"/>
              </a:lnSpc>
            </a:pPr>
            <a:r>
              <a:rPr lang="en-US" sz="5319">
                <a:solidFill>
                  <a:srgbClr val="F5BA01"/>
                </a:solidFill>
                <a:latin typeface="Adumu Regular"/>
                <a:ea typeface="Adumu Regular"/>
                <a:cs typeface="Adumu Regular"/>
                <a:sym typeface="Adumu Regular"/>
              </a:rPr>
              <a:t>2. Calculate the 4-week moving average of the creditLimit for each client.</a:t>
            </a:r>
          </a:p>
          <a:p>
            <a:pPr algn="ctr">
              <a:lnSpc>
                <a:spcPts val="5357"/>
              </a:lnSpc>
            </a:pPr>
          </a:p>
        </p:txBody>
      </p:sp>
      <p:sp>
        <p:nvSpPr>
          <p:cNvPr name="TextBox 14" id="14"/>
          <p:cNvSpPr txBox="true"/>
          <p:nvPr/>
        </p:nvSpPr>
        <p:spPr>
          <a:xfrm rot="0">
            <a:off x="-2946892" y="1713373"/>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5" id="15"/>
          <p:cNvSpPr txBox="true"/>
          <p:nvPr/>
        </p:nvSpPr>
        <p:spPr>
          <a:xfrm rot="0">
            <a:off x="-4240606" y="6375636"/>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Output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3977730" y="620152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146950" y="1339230"/>
            <a:ext cx="11770152" cy="1839086"/>
          </a:xfrm>
          <a:custGeom>
            <a:avLst/>
            <a:gdLst/>
            <a:ahLst/>
            <a:cxnLst/>
            <a:rect r="r" b="b" t="t" l="l"/>
            <a:pathLst>
              <a:path h="1839086" w="11770152">
                <a:moveTo>
                  <a:pt x="0" y="0"/>
                </a:moveTo>
                <a:lnTo>
                  <a:pt x="11770151" y="0"/>
                </a:lnTo>
                <a:lnTo>
                  <a:pt x="11770151" y="1839086"/>
                </a:lnTo>
                <a:lnTo>
                  <a:pt x="0" y="1839086"/>
                </a:lnTo>
                <a:lnTo>
                  <a:pt x="0" y="0"/>
                </a:lnTo>
                <a:close/>
              </a:path>
            </a:pathLst>
          </a:custGeom>
          <a:blipFill>
            <a:blip r:embed="rId10"/>
            <a:stretch>
              <a:fillRect l="0" t="0" r="0" b="0"/>
            </a:stretch>
          </a:blipFill>
        </p:spPr>
      </p:sp>
      <p:sp>
        <p:nvSpPr>
          <p:cNvPr name="Freeform 12" id="12"/>
          <p:cNvSpPr/>
          <p:nvPr/>
        </p:nvSpPr>
        <p:spPr>
          <a:xfrm flipH="false" flipV="false" rot="0">
            <a:off x="4151172" y="3280441"/>
            <a:ext cx="13765929" cy="2133719"/>
          </a:xfrm>
          <a:custGeom>
            <a:avLst/>
            <a:gdLst/>
            <a:ahLst/>
            <a:cxnLst/>
            <a:rect r="r" b="b" t="t" l="l"/>
            <a:pathLst>
              <a:path h="2133719" w="13765929">
                <a:moveTo>
                  <a:pt x="0" y="0"/>
                </a:moveTo>
                <a:lnTo>
                  <a:pt x="13765929" y="0"/>
                </a:lnTo>
                <a:lnTo>
                  <a:pt x="13765929" y="2133719"/>
                </a:lnTo>
                <a:lnTo>
                  <a:pt x="0" y="2133719"/>
                </a:lnTo>
                <a:lnTo>
                  <a:pt x="0" y="0"/>
                </a:lnTo>
                <a:close/>
              </a:path>
            </a:pathLst>
          </a:custGeom>
          <a:blipFill>
            <a:blip r:embed="rId11"/>
            <a:stretch>
              <a:fillRect l="0" t="0" r="0" b="0"/>
            </a:stretch>
          </a:blipFill>
        </p:spPr>
      </p:sp>
      <p:sp>
        <p:nvSpPr>
          <p:cNvPr name="Freeform 13" id="13"/>
          <p:cNvSpPr/>
          <p:nvPr/>
        </p:nvSpPr>
        <p:spPr>
          <a:xfrm flipH="false" flipV="false" rot="0">
            <a:off x="3813147" y="5755752"/>
            <a:ext cx="4667605" cy="4531248"/>
          </a:xfrm>
          <a:custGeom>
            <a:avLst/>
            <a:gdLst/>
            <a:ahLst/>
            <a:cxnLst/>
            <a:rect r="r" b="b" t="t" l="l"/>
            <a:pathLst>
              <a:path h="4531248" w="4667605">
                <a:moveTo>
                  <a:pt x="0" y="0"/>
                </a:moveTo>
                <a:lnTo>
                  <a:pt x="4667605" y="0"/>
                </a:lnTo>
                <a:lnTo>
                  <a:pt x="4667605" y="4531248"/>
                </a:lnTo>
                <a:lnTo>
                  <a:pt x="0" y="4531248"/>
                </a:lnTo>
                <a:lnTo>
                  <a:pt x="0" y="0"/>
                </a:lnTo>
                <a:close/>
              </a:path>
            </a:pathLst>
          </a:custGeom>
          <a:blipFill>
            <a:blip r:embed="rId12"/>
            <a:stretch>
              <a:fillRect l="0" t="0" r="0" b="0"/>
            </a:stretch>
          </a:blipFill>
        </p:spPr>
      </p:sp>
      <p:sp>
        <p:nvSpPr>
          <p:cNvPr name="Freeform 14" id="14"/>
          <p:cNvSpPr/>
          <p:nvPr/>
        </p:nvSpPr>
        <p:spPr>
          <a:xfrm flipH="false" flipV="false" rot="0">
            <a:off x="9144000" y="5699910"/>
            <a:ext cx="4833730" cy="5036544"/>
          </a:xfrm>
          <a:custGeom>
            <a:avLst/>
            <a:gdLst/>
            <a:ahLst/>
            <a:cxnLst/>
            <a:rect r="r" b="b" t="t" l="l"/>
            <a:pathLst>
              <a:path h="5036544" w="4833730">
                <a:moveTo>
                  <a:pt x="0" y="0"/>
                </a:moveTo>
                <a:lnTo>
                  <a:pt x="4833730" y="0"/>
                </a:lnTo>
                <a:lnTo>
                  <a:pt x="4833730" y="5036544"/>
                </a:lnTo>
                <a:lnTo>
                  <a:pt x="0" y="5036544"/>
                </a:lnTo>
                <a:lnTo>
                  <a:pt x="0" y="0"/>
                </a:lnTo>
                <a:close/>
              </a:path>
            </a:pathLst>
          </a:custGeom>
          <a:blipFill>
            <a:blip r:embed="rId13"/>
            <a:stretch>
              <a:fillRect l="0" t="0" r="0" b="0"/>
            </a:stretch>
          </a:blipFill>
        </p:spPr>
      </p:sp>
      <p:sp>
        <p:nvSpPr>
          <p:cNvPr name="TextBox 15" id="15"/>
          <p:cNvSpPr txBox="true"/>
          <p:nvPr/>
        </p:nvSpPr>
        <p:spPr>
          <a:xfrm rot="0">
            <a:off x="1926334" y="85725"/>
            <a:ext cx="14750618" cy="967885"/>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3. Calculate the mom% growth and wow% groth on transaction amount.</a:t>
            </a:r>
          </a:p>
        </p:txBody>
      </p:sp>
      <p:sp>
        <p:nvSpPr>
          <p:cNvPr name="TextBox 16" id="16"/>
          <p:cNvSpPr txBox="true"/>
          <p:nvPr/>
        </p:nvSpPr>
        <p:spPr>
          <a:xfrm rot="0">
            <a:off x="-3308420" y="1045713"/>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7" id="17"/>
          <p:cNvSpPr txBox="true"/>
          <p:nvPr/>
        </p:nvSpPr>
        <p:spPr>
          <a:xfrm rot="0">
            <a:off x="-5114274" y="5868709"/>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Output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3977730" y="620152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473476" y="2189889"/>
            <a:ext cx="14325737" cy="698380"/>
          </a:xfrm>
          <a:custGeom>
            <a:avLst/>
            <a:gdLst/>
            <a:ahLst/>
            <a:cxnLst/>
            <a:rect r="r" b="b" t="t" l="l"/>
            <a:pathLst>
              <a:path h="698380" w="14325737">
                <a:moveTo>
                  <a:pt x="0" y="0"/>
                </a:moveTo>
                <a:lnTo>
                  <a:pt x="14325736" y="0"/>
                </a:lnTo>
                <a:lnTo>
                  <a:pt x="14325736" y="698380"/>
                </a:lnTo>
                <a:lnTo>
                  <a:pt x="0" y="698380"/>
                </a:lnTo>
                <a:lnTo>
                  <a:pt x="0" y="0"/>
                </a:lnTo>
                <a:close/>
              </a:path>
            </a:pathLst>
          </a:custGeom>
          <a:blipFill>
            <a:blip r:embed="rId10"/>
            <a:stretch>
              <a:fillRect l="0" t="0" r="0" b="0"/>
            </a:stretch>
          </a:blipFill>
        </p:spPr>
      </p:sp>
      <p:sp>
        <p:nvSpPr>
          <p:cNvPr name="Freeform 12" id="12"/>
          <p:cNvSpPr/>
          <p:nvPr/>
        </p:nvSpPr>
        <p:spPr>
          <a:xfrm flipH="false" flipV="false" rot="0">
            <a:off x="2676472" y="5414564"/>
            <a:ext cx="11301259" cy="1483290"/>
          </a:xfrm>
          <a:custGeom>
            <a:avLst/>
            <a:gdLst/>
            <a:ahLst/>
            <a:cxnLst/>
            <a:rect r="r" b="b" t="t" l="l"/>
            <a:pathLst>
              <a:path h="1483290" w="11301259">
                <a:moveTo>
                  <a:pt x="0" y="0"/>
                </a:moveTo>
                <a:lnTo>
                  <a:pt x="11301258" y="0"/>
                </a:lnTo>
                <a:lnTo>
                  <a:pt x="11301258" y="1483290"/>
                </a:lnTo>
                <a:lnTo>
                  <a:pt x="0" y="1483290"/>
                </a:lnTo>
                <a:lnTo>
                  <a:pt x="0" y="0"/>
                </a:lnTo>
                <a:close/>
              </a:path>
            </a:pathLst>
          </a:custGeom>
          <a:blipFill>
            <a:blip r:embed="rId11"/>
            <a:stretch>
              <a:fillRect l="0" t="0" r="0" b="0"/>
            </a:stretch>
          </a:blipFill>
        </p:spPr>
      </p:sp>
      <p:sp>
        <p:nvSpPr>
          <p:cNvPr name="TextBox 13" id="13"/>
          <p:cNvSpPr txBox="true"/>
          <p:nvPr/>
        </p:nvSpPr>
        <p:spPr>
          <a:xfrm rot="0">
            <a:off x="1926334" y="85725"/>
            <a:ext cx="14750618"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4. Calculate Customer Acquisition Cost (CAC) as a Ratio of Transaction Amount.</a:t>
            </a:r>
          </a:p>
          <a:p>
            <a:pPr algn="ctr">
              <a:lnSpc>
                <a:spcPts val="3577"/>
              </a:lnSpc>
            </a:pPr>
          </a:p>
        </p:txBody>
      </p:sp>
      <p:sp>
        <p:nvSpPr>
          <p:cNvPr name="TextBox 14" id="14"/>
          <p:cNvSpPr txBox="true"/>
          <p:nvPr/>
        </p:nvSpPr>
        <p:spPr>
          <a:xfrm rot="0">
            <a:off x="-3275554" y="1168473"/>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5" id="15"/>
          <p:cNvSpPr txBox="true"/>
          <p:nvPr/>
        </p:nvSpPr>
        <p:spPr>
          <a:xfrm rot="0">
            <a:off x="2125591" y="3414804"/>
            <a:ext cx="15133709"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5. Calculate the yearly average of avg_utilization_ratio for all clients.</a:t>
            </a:r>
          </a:p>
          <a:p>
            <a:pPr algn="ctr">
              <a:lnSpc>
                <a:spcPts val="3577"/>
              </a:lnSpc>
            </a:pPr>
          </a:p>
        </p:txBody>
      </p:sp>
      <p:sp>
        <p:nvSpPr>
          <p:cNvPr name="TextBox 16" id="16"/>
          <p:cNvSpPr txBox="true"/>
          <p:nvPr/>
        </p:nvSpPr>
        <p:spPr>
          <a:xfrm rot="0">
            <a:off x="-3515611" y="4396516"/>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3977730" y="620152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512178" y="1225897"/>
            <a:ext cx="10747122" cy="3143026"/>
          </a:xfrm>
          <a:custGeom>
            <a:avLst/>
            <a:gdLst/>
            <a:ahLst/>
            <a:cxnLst/>
            <a:rect r="r" b="b" t="t" l="l"/>
            <a:pathLst>
              <a:path h="3143026" w="10747122">
                <a:moveTo>
                  <a:pt x="0" y="0"/>
                </a:moveTo>
                <a:lnTo>
                  <a:pt x="10747122" y="0"/>
                </a:lnTo>
                <a:lnTo>
                  <a:pt x="10747122" y="3143027"/>
                </a:lnTo>
                <a:lnTo>
                  <a:pt x="0" y="3143027"/>
                </a:lnTo>
                <a:lnTo>
                  <a:pt x="0" y="0"/>
                </a:lnTo>
                <a:close/>
              </a:path>
            </a:pathLst>
          </a:custGeom>
          <a:blipFill>
            <a:blip r:embed="rId10"/>
            <a:stretch>
              <a:fillRect l="0" t="0" r="0" b="0"/>
            </a:stretch>
          </a:blipFill>
        </p:spPr>
      </p:sp>
      <p:sp>
        <p:nvSpPr>
          <p:cNvPr name="Freeform 12" id="12"/>
          <p:cNvSpPr/>
          <p:nvPr/>
        </p:nvSpPr>
        <p:spPr>
          <a:xfrm flipH="false" flipV="false" rot="0">
            <a:off x="4323363" y="5626006"/>
            <a:ext cx="7910041" cy="4202209"/>
          </a:xfrm>
          <a:custGeom>
            <a:avLst/>
            <a:gdLst/>
            <a:ahLst/>
            <a:cxnLst/>
            <a:rect r="r" b="b" t="t" l="l"/>
            <a:pathLst>
              <a:path h="4202209" w="7910041">
                <a:moveTo>
                  <a:pt x="0" y="0"/>
                </a:moveTo>
                <a:lnTo>
                  <a:pt x="7910041" y="0"/>
                </a:lnTo>
                <a:lnTo>
                  <a:pt x="7910041" y="4202209"/>
                </a:lnTo>
                <a:lnTo>
                  <a:pt x="0" y="4202209"/>
                </a:lnTo>
                <a:lnTo>
                  <a:pt x="0" y="0"/>
                </a:lnTo>
                <a:close/>
              </a:path>
            </a:pathLst>
          </a:custGeom>
          <a:blipFill>
            <a:blip r:embed="rId11"/>
            <a:stretch>
              <a:fillRect l="0" t="0" r="0" b="0"/>
            </a:stretch>
          </a:blipFill>
        </p:spPr>
      </p:sp>
      <p:sp>
        <p:nvSpPr>
          <p:cNvPr name="TextBox 13" id="13"/>
          <p:cNvSpPr txBox="true"/>
          <p:nvPr/>
        </p:nvSpPr>
        <p:spPr>
          <a:xfrm rot="0">
            <a:off x="1926334" y="85725"/>
            <a:ext cx="14750618"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6. Calculate the percentage of Interest_Earned  compared to Total_Revolving_Bal for each client.</a:t>
            </a:r>
          </a:p>
          <a:p>
            <a:pPr algn="ctr">
              <a:lnSpc>
                <a:spcPts val="3577"/>
              </a:lnSpc>
            </a:pPr>
          </a:p>
        </p:txBody>
      </p:sp>
      <p:sp>
        <p:nvSpPr>
          <p:cNvPr name="TextBox 14" id="14"/>
          <p:cNvSpPr txBox="true"/>
          <p:nvPr/>
        </p:nvSpPr>
        <p:spPr>
          <a:xfrm rot="0">
            <a:off x="-5249718" y="6159690"/>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5" id="15"/>
          <p:cNvSpPr txBox="true"/>
          <p:nvPr/>
        </p:nvSpPr>
        <p:spPr>
          <a:xfrm rot="0">
            <a:off x="1768691" y="4620305"/>
            <a:ext cx="16050416"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7. Calculate the percentage of Interest_Earned compared to Total_Revolving_Bal for each client.</a:t>
            </a:r>
          </a:p>
          <a:p>
            <a:pPr algn="ctr">
              <a:lnSpc>
                <a:spcPts val="3577"/>
              </a:lnSpc>
            </a:pPr>
          </a:p>
        </p:txBody>
      </p:sp>
      <p:sp>
        <p:nvSpPr>
          <p:cNvPr name="TextBox 16" id="16"/>
          <p:cNvSpPr txBox="true"/>
          <p:nvPr/>
        </p:nvSpPr>
        <p:spPr>
          <a:xfrm rot="0">
            <a:off x="-3123154" y="1729692"/>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8601"/>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3977730" y="6201521"/>
            <a:ext cx="3841377" cy="4039689"/>
          </a:xfrm>
          <a:custGeom>
            <a:avLst/>
            <a:gdLst/>
            <a:ahLst/>
            <a:cxnLst/>
            <a:rect r="r" b="b" t="t" l="l"/>
            <a:pathLst>
              <a:path h="4039689" w="3841377">
                <a:moveTo>
                  <a:pt x="3841377" y="0"/>
                </a:moveTo>
                <a:lnTo>
                  <a:pt x="0" y="0"/>
                </a:lnTo>
                <a:lnTo>
                  <a:pt x="0" y="4039689"/>
                </a:lnTo>
                <a:lnTo>
                  <a:pt x="3841377" y="4039689"/>
                </a:lnTo>
                <a:lnTo>
                  <a:pt x="384137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22091" y="2519140"/>
            <a:ext cx="11301259" cy="1440911"/>
          </a:xfrm>
          <a:custGeom>
            <a:avLst/>
            <a:gdLst/>
            <a:ahLst/>
            <a:cxnLst/>
            <a:rect r="r" b="b" t="t" l="l"/>
            <a:pathLst>
              <a:path h="1440911" w="11301259">
                <a:moveTo>
                  <a:pt x="0" y="0"/>
                </a:moveTo>
                <a:lnTo>
                  <a:pt x="11301259" y="0"/>
                </a:lnTo>
                <a:lnTo>
                  <a:pt x="11301259" y="1440910"/>
                </a:lnTo>
                <a:lnTo>
                  <a:pt x="0" y="1440910"/>
                </a:lnTo>
                <a:lnTo>
                  <a:pt x="0" y="0"/>
                </a:lnTo>
                <a:close/>
              </a:path>
            </a:pathLst>
          </a:custGeom>
          <a:blipFill>
            <a:blip r:embed="rId10"/>
            <a:stretch>
              <a:fillRect l="0" t="0" r="0" b="0"/>
            </a:stretch>
          </a:blipFill>
        </p:spPr>
      </p:sp>
      <p:sp>
        <p:nvSpPr>
          <p:cNvPr name="Freeform 12" id="12"/>
          <p:cNvSpPr/>
          <p:nvPr/>
        </p:nvSpPr>
        <p:spPr>
          <a:xfrm flipH="false" flipV="false" rot="0">
            <a:off x="5128809" y="6166974"/>
            <a:ext cx="8848922" cy="3661241"/>
          </a:xfrm>
          <a:custGeom>
            <a:avLst/>
            <a:gdLst/>
            <a:ahLst/>
            <a:cxnLst/>
            <a:rect r="r" b="b" t="t" l="l"/>
            <a:pathLst>
              <a:path h="3661241" w="8848922">
                <a:moveTo>
                  <a:pt x="0" y="0"/>
                </a:moveTo>
                <a:lnTo>
                  <a:pt x="8848921" y="0"/>
                </a:lnTo>
                <a:lnTo>
                  <a:pt x="8848921" y="3661241"/>
                </a:lnTo>
                <a:lnTo>
                  <a:pt x="0" y="3661241"/>
                </a:lnTo>
                <a:lnTo>
                  <a:pt x="0" y="0"/>
                </a:lnTo>
                <a:close/>
              </a:path>
            </a:pathLst>
          </a:custGeom>
          <a:blipFill>
            <a:blip r:embed="rId11"/>
            <a:stretch>
              <a:fillRect l="0" t="0" r="0" b="0"/>
            </a:stretch>
          </a:blipFill>
        </p:spPr>
      </p:sp>
      <p:sp>
        <p:nvSpPr>
          <p:cNvPr name="TextBox 13" id="13"/>
          <p:cNvSpPr txBox="true"/>
          <p:nvPr/>
        </p:nvSpPr>
        <p:spPr>
          <a:xfrm rot="0">
            <a:off x="0" y="4620305"/>
            <a:ext cx="17819107" cy="1863235"/>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9.Customer Churn Indicator: Create a KPI that flags clients who have not made any transactions (Total_Trans_Amt = 0) in the last 6 months</a:t>
            </a:r>
          </a:p>
          <a:p>
            <a:pPr algn="ctr">
              <a:lnSpc>
                <a:spcPts val="3577"/>
              </a:lnSpc>
            </a:pPr>
          </a:p>
        </p:txBody>
      </p:sp>
      <p:sp>
        <p:nvSpPr>
          <p:cNvPr name="TextBox 14" id="14"/>
          <p:cNvSpPr txBox="true"/>
          <p:nvPr/>
        </p:nvSpPr>
        <p:spPr>
          <a:xfrm rot="0">
            <a:off x="1926334" y="85725"/>
            <a:ext cx="15892773" cy="967885"/>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8. Identify clients whose Avg_Utilization_Ratio exceeds 80%</a:t>
            </a:r>
          </a:p>
          <a:p>
            <a:pPr algn="ctr">
              <a:lnSpc>
                <a:spcPts val="3577"/>
              </a:lnSpc>
            </a:pPr>
          </a:p>
        </p:txBody>
      </p:sp>
      <p:sp>
        <p:nvSpPr>
          <p:cNvPr name="TextBox 15" id="15"/>
          <p:cNvSpPr txBox="true"/>
          <p:nvPr/>
        </p:nvSpPr>
        <p:spPr>
          <a:xfrm rot="0">
            <a:off x="-4395196" y="6711285"/>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6" id="16"/>
          <p:cNvSpPr txBox="true"/>
          <p:nvPr/>
        </p:nvSpPr>
        <p:spPr>
          <a:xfrm rot="0">
            <a:off x="-3123154" y="1729692"/>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8601"/>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6375090" y="1370435"/>
            <a:ext cx="9523329" cy="3059369"/>
          </a:xfrm>
          <a:custGeom>
            <a:avLst/>
            <a:gdLst/>
            <a:ahLst/>
            <a:cxnLst/>
            <a:rect r="r" b="b" t="t" l="l"/>
            <a:pathLst>
              <a:path h="3059369" w="9523329">
                <a:moveTo>
                  <a:pt x="0" y="0"/>
                </a:moveTo>
                <a:lnTo>
                  <a:pt x="9523329" y="0"/>
                </a:lnTo>
                <a:lnTo>
                  <a:pt x="9523329" y="3059370"/>
                </a:lnTo>
                <a:lnTo>
                  <a:pt x="0" y="3059370"/>
                </a:lnTo>
                <a:lnTo>
                  <a:pt x="0" y="0"/>
                </a:lnTo>
                <a:close/>
              </a:path>
            </a:pathLst>
          </a:custGeom>
          <a:blipFill>
            <a:blip r:embed="rId8"/>
            <a:stretch>
              <a:fillRect l="0" t="0" r="0" b="0"/>
            </a:stretch>
          </a:blipFill>
        </p:spPr>
      </p:sp>
      <p:sp>
        <p:nvSpPr>
          <p:cNvPr name="Freeform 11" id="11"/>
          <p:cNvSpPr/>
          <p:nvPr/>
        </p:nvSpPr>
        <p:spPr>
          <a:xfrm flipH="false" flipV="false" rot="0">
            <a:off x="6375090" y="5626910"/>
            <a:ext cx="4015709" cy="4660090"/>
          </a:xfrm>
          <a:custGeom>
            <a:avLst/>
            <a:gdLst/>
            <a:ahLst/>
            <a:cxnLst/>
            <a:rect r="r" b="b" t="t" l="l"/>
            <a:pathLst>
              <a:path h="4660090" w="4015709">
                <a:moveTo>
                  <a:pt x="0" y="0"/>
                </a:moveTo>
                <a:lnTo>
                  <a:pt x="4015709" y="0"/>
                </a:lnTo>
                <a:lnTo>
                  <a:pt x="4015709" y="4660090"/>
                </a:lnTo>
                <a:lnTo>
                  <a:pt x="0" y="4660090"/>
                </a:lnTo>
                <a:lnTo>
                  <a:pt x="0" y="0"/>
                </a:lnTo>
                <a:close/>
              </a:path>
            </a:pathLst>
          </a:custGeom>
          <a:blipFill>
            <a:blip r:embed="rId9"/>
            <a:stretch>
              <a:fillRect l="0" t="0" r="0" b="0"/>
            </a:stretch>
          </a:blipFill>
        </p:spPr>
      </p:sp>
      <p:sp>
        <p:nvSpPr>
          <p:cNvPr name="TextBox 12" id="12"/>
          <p:cNvSpPr txBox="true"/>
          <p:nvPr/>
        </p:nvSpPr>
        <p:spPr>
          <a:xfrm rot="0">
            <a:off x="0" y="4620305"/>
            <a:ext cx="17819107"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11. Income vs Credit Limit Correlation: Show the correlation between Income and Credit_Limit for all clients.</a:t>
            </a:r>
          </a:p>
          <a:p>
            <a:pPr algn="ctr">
              <a:lnSpc>
                <a:spcPts val="3577"/>
              </a:lnSpc>
            </a:pPr>
          </a:p>
        </p:txBody>
      </p:sp>
      <p:sp>
        <p:nvSpPr>
          <p:cNvPr name="TextBox 13" id="13"/>
          <p:cNvSpPr txBox="true"/>
          <p:nvPr/>
        </p:nvSpPr>
        <p:spPr>
          <a:xfrm rot="0">
            <a:off x="1926334" y="85725"/>
            <a:ext cx="15892773"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10.  Delinquency Rate: Calculate the percentage of clients with Delinquent_Acc &gt; 0.</a:t>
            </a:r>
          </a:p>
          <a:p>
            <a:pPr algn="ctr">
              <a:lnSpc>
                <a:spcPts val="3577"/>
              </a:lnSpc>
            </a:pPr>
          </a:p>
        </p:txBody>
      </p:sp>
      <p:sp>
        <p:nvSpPr>
          <p:cNvPr name="TextBox 14" id="14"/>
          <p:cNvSpPr txBox="true"/>
          <p:nvPr/>
        </p:nvSpPr>
        <p:spPr>
          <a:xfrm rot="0">
            <a:off x="-3123154" y="1729692"/>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
        <p:nvSpPr>
          <p:cNvPr name="TextBox 15" id="15"/>
          <p:cNvSpPr txBox="true"/>
          <p:nvPr/>
        </p:nvSpPr>
        <p:spPr>
          <a:xfrm rot="0">
            <a:off x="-5249718" y="5703053"/>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Output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8601"/>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579036" y="2967997"/>
            <a:ext cx="14258773" cy="5317168"/>
          </a:xfrm>
          <a:custGeom>
            <a:avLst/>
            <a:gdLst/>
            <a:ahLst/>
            <a:cxnLst/>
            <a:rect r="r" b="b" t="t" l="l"/>
            <a:pathLst>
              <a:path h="5317168" w="14258773">
                <a:moveTo>
                  <a:pt x="0" y="0"/>
                </a:moveTo>
                <a:lnTo>
                  <a:pt x="14258773" y="0"/>
                </a:lnTo>
                <a:lnTo>
                  <a:pt x="14258773" y="5317168"/>
                </a:lnTo>
                <a:lnTo>
                  <a:pt x="0" y="5317168"/>
                </a:lnTo>
                <a:lnTo>
                  <a:pt x="0" y="0"/>
                </a:lnTo>
                <a:close/>
              </a:path>
            </a:pathLst>
          </a:custGeom>
          <a:blipFill>
            <a:blip r:embed="rId8"/>
            <a:stretch>
              <a:fillRect l="0" t="0" r="0" b="0"/>
            </a:stretch>
          </a:blipFill>
        </p:spPr>
      </p:sp>
      <p:sp>
        <p:nvSpPr>
          <p:cNvPr name="TextBox 11" id="11"/>
          <p:cNvSpPr txBox="true"/>
          <p:nvPr/>
        </p:nvSpPr>
        <p:spPr>
          <a:xfrm rot="0">
            <a:off x="1926334" y="85725"/>
            <a:ext cx="15892773" cy="1863235"/>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12.  Average Customer Satisfaction Score by Credit Card Category: Calculate the average Cust_Satisfaction_Score by Card_Category.</a:t>
            </a:r>
          </a:p>
          <a:p>
            <a:pPr algn="ctr">
              <a:lnSpc>
                <a:spcPts val="3577"/>
              </a:lnSpc>
            </a:pPr>
          </a:p>
        </p:txBody>
      </p:sp>
      <p:sp>
        <p:nvSpPr>
          <p:cNvPr name="TextBox 12" id="12"/>
          <p:cNvSpPr txBox="true"/>
          <p:nvPr/>
        </p:nvSpPr>
        <p:spPr>
          <a:xfrm rot="0">
            <a:off x="-2794492" y="2178549"/>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8601"/>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381838" y="3103485"/>
            <a:ext cx="15708964" cy="1433443"/>
          </a:xfrm>
          <a:custGeom>
            <a:avLst/>
            <a:gdLst/>
            <a:ahLst/>
            <a:cxnLst/>
            <a:rect r="r" b="b" t="t" l="l"/>
            <a:pathLst>
              <a:path h="1433443" w="15708964">
                <a:moveTo>
                  <a:pt x="0" y="0"/>
                </a:moveTo>
                <a:lnTo>
                  <a:pt x="15708965" y="0"/>
                </a:lnTo>
                <a:lnTo>
                  <a:pt x="15708965" y="1433443"/>
                </a:lnTo>
                <a:lnTo>
                  <a:pt x="0" y="1433443"/>
                </a:lnTo>
                <a:lnTo>
                  <a:pt x="0" y="0"/>
                </a:lnTo>
                <a:close/>
              </a:path>
            </a:pathLst>
          </a:custGeom>
          <a:blipFill>
            <a:blip r:embed="rId8"/>
            <a:stretch>
              <a:fillRect l="0" t="0" r="0" b="0"/>
            </a:stretch>
          </a:blipFill>
        </p:spPr>
      </p:sp>
      <p:sp>
        <p:nvSpPr>
          <p:cNvPr name="Freeform 11" id="11"/>
          <p:cNvSpPr/>
          <p:nvPr/>
        </p:nvSpPr>
        <p:spPr>
          <a:xfrm flipH="false" flipV="false" rot="0">
            <a:off x="2424077" y="4855122"/>
            <a:ext cx="15624487" cy="1542918"/>
          </a:xfrm>
          <a:custGeom>
            <a:avLst/>
            <a:gdLst/>
            <a:ahLst/>
            <a:cxnLst/>
            <a:rect r="r" b="b" t="t" l="l"/>
            <a:pathLst>
              <a:path h="1542918" w="15624487">
                <a:moveTo>
                  <a:pt x="0" y="0"/>
                </a:moveTo>
                <a:lnTo>
                  <a:pt x="15624487" y="0"/>
                </a:lnTo>
                <a:lnTo>
                  <a:pt x="15624487" y="1542918"/>
                </a:lnTo>
                <a:lnTo>
                  <a:pt x="0" y="1542918"/>
                </a:lnTo>
                <a:lnTo>
                  <a:pt x="0" y="0"/>
                </a:lnTo>
                <a:close/>
              </a:path>
            </a:pathLst>
          </a:custGeom>
          <a:blipFill>
            <a:blip r:embed="rId9"/>
            <a:stretch>
              <a:fillRect l="0" t="0" r="0" b="0"/>
            </a:stretch>
          </a:blipFill>
        </p:spPr>
      </p:sp>
      <p:sp>
        <p:nvSpPr>
          <p:cNvPr name="TextBox 12" id="12"/>
          <p:cNvSpPr txBox="true"/>
          <p:nvPr/>
        </p:nvSpPr>
        <p:spPr>
          <a:xfrm rot="0">
            <a:off x="1926334" y="85725"/>
            <a:ext cx="15892773"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13. Loan Approval vs Credit Limit: Analyze how Credit_Limit affects Personal_loan approval by calculating the average credit limit for clients with and without loans</a:t>
            </a:r>
          </a:p>
        </p:txBody>
      </p:sp>
      <p:sp>
        <p:nvSpPr>
          <p:cNvPr name="TextBox 13" id="13"/>
          <p:cNvSpPr txBox="true"/>
          <p:nvPr/>
        </p:nvSpPr>
        <p:spPr>
          <a:xfrm rot="0">
            <a:off x="-2794492" y="2178549"/>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8601"/>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1461" y="8285165"/>
            <a:ext cx="20426207" cy="3086100"/>
            <a:chOff x="0" y="0"/>
            <a:chExt cx="5379742" cy="812800"/>
          </a:xfrm>
        </p:grpSpPr>
        <p:sp>
          <p:nvSpPr>
            <p:cNvPr name="Freeform 6" id="6"/>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7" id="7"/>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8" id="8"/>
          <p:cNvSpPr/>
          <p:nvPr/>
        </p:nvSpPr>
        <p:spPr>
          <a:xfrm flipH="false" flipV="false" rot="0">
            <a:off x="-1819296" y="7500733"/>
            <a:ext cx="4398332" cy="3870532"/>
          </a:xfrm>
          <a:custGeom>
            <a:avLst/>
            <a:gdLst/>
            <a:ahLst/>
            <a:cxnLst/>
            <a:rect r="r" b="b" t="t" l="l"/>
            <a:pathLst>
              <a:path h="3870532" w="4398332">
                <a:moveTo>
                  <a:pt x="0" y="0"/>
                </a:moveTo>
                <a:lnTo>
                  <a:pt x="4398332" y="0"/>
                </a:lnTo>
                <a:lnTo>
                  <a:pt x="4398332" y="3870532"/>
                </a:lnTo>
                <a:lnTo>
                  <a:pt x="0" y="3870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95785">
            <a:off x="-3465603" y="76475"/>
            <a:ext cx="5541186" cy="3667257"/>
          </a:xfrm>
          <a:custGeom>
            <a:avLst/>
            <a:gdLst/>
            <a:ahLst/>
            <a:cxnLst/>
            <a:rect r="r" b="b" t="t" l="l"/>
            <a:pathLst>
              <a:path h="3667257" w="5541186">
                <a:moveTo>
                  <a:pt x="0" y="0"/>
                </a:moveTo>
                <a:lnTo>
                  <a:pt x="5541186" y="0"/>
                </a:lnTo>
                <a:lnTo>
                  <a:pt x="5541186" y="3667257"/>
                </a:lnTo>
                <a:lnTo>
                  <a:pt x="0" y="3667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329468" y="3173584"/>
            <a:ext cx="15489640" cy="5111581"/>
          </a:xfrm>
          <a:custGeom>
            <a:avLst/>
            <a:gdLst/>
            <a:ahLst/>
            <a:cxnLst/>
            <a:rect r="r" b="b" t="t" l="l"/>
            <a:pathLst>
              <a:path h="5111581" w="15489640">
                <a:moveTo>
                  <a:pt x="0" y="0"/>
                </a:moveTo>
                <a:lnTo>
                  <a:pt x="15489639" y="0"/>
                </a:lnTo>
                <a:lnTo>
                  <a:pt x="15489639" y="5111581"/>
                </a:lnTo>
                <a:lnTo>
                  <a:pt x="0" y="5111581"/>
                </a:lnTo>
                <a:lnTo>
                  <a:pt x="0" y="0"/>
                </a:lnTo>
                <a:close/>
              </a:path>
            </a:pathLst>
          </a:custGeom>
          <a:blipFill>
            <a:blip r:embed="rId8"/>
            <a:stretch>
              <a:fillRect l="0" t="0" r="0" b="0"/>
            </a:stretch>
          </a:blipFill>
        </p:spPr>
      </p:sp>
      <p:sp>
        <p:nvSpPr>
          <p:cNvPr name="TextBox 11" id="11"/>
          <p:cNvSpPr txBox="true"/>
          <p:nvPr/>
        </p:nvSpPr>
        <p:spPr>
          <a:xfrm rot="0">
            <a:off x="1926334" y="85725"/>
            <a:ext cx="15892773" cy="1415560"/>
          </a:xfrm>
          <a:prstGeom prst="rect">
            <a:avLst/>
          </a:prstGeom>
        </p:spPr>
        <p:txBody>
          <a:bodyPr anchor="t" rtlCol="false" tIns="0" lIns="0" bIns="0" rIns="0">
            <a:spAutoFit/>
          </a:bodyPr>
          <a:lstStyle/>
          <a:p>
            <a:pPr algn="ctr">
              <a:lnSpc>
                <a:spcPts val="3577"/>
              </a:lnSpc>
            </a:pPr>
            <a:r>
              <a:rPr lang="en-US" sz="4019">
                <a:solidFill>
                  <a:srgbClr val="F5BA01"/>
                </a:solidFill>
                <a:latin typeface="Adumu Regular"/>
                <a:ea typeface="Adumu Regular"/>
                <a:cs typeface="Adumu Regular"/>
                <a:sym typeface="Adumu Regular"/>
              </a:rPr>
              <a:t>14. High Risk Clients Flag: Create a flag for clients whose Total_Revolving_Bal exceeds 90% of their Credit_Limit and who have a high Avg_Utilization_Ratio</a:t>
            </a:r>
          </a:p>
        </p:txBody>
      </p:sp>
      <p:sp>
        <p:nvSpPr>
          <p:cNvPr name="TextBox 12" id="12"/>
          <p:cNvSpPr txBox="true"/>
          <p:nvPr/>
        </p:nvSpPr>
        <p:spPr>
          <a:xfrm rot="0">
            <a:off x="-2794492" y="2178549"/>
            <a:ext cx="14750618" cy="789448"/>
          </a:xfrm>
          <a:prstGeom prst="rect">
            <a:avLst/>
          </a:prstGeom>
        </p:spPr>
        <p:txBody>
          <a:bodyPr anchor="t" rtlCol="false" tIns="0" lIns="0" bIns="0" rIns="0">
            <a:spAutoFit/>
          </a:bodyPr>
          <a:lstStyle/>
          <a:p>
            <a:pPr algn="ctr">
              <a:lnSpc>
                <a:spcPts val="5357"/>
              </a:lnSpc>
            </a:pPr>
            <a:r>
              <a:rPr lang="en-US" sz="6019">
                <a:solidFill>
                  <a:srgbClr val="00BF63"/>
                </a:solidFill>
                <a:latin typeface="Adumu Regular"/>
                <a:ea typeface="Adumu Regular"/>
                <a:cs typeface="Adumu Regular"/>
                <a:sym typeface="Adumu Regular"/>
              </a:rPr>
              <a:t>DAX Query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B2257"/>
        </a:solidFill>
      </p:bgPr>
    </p:bg>
    <p:spTree>
      <p:nvGrpSpPr>
        <p:cNvPr id="1" name=""/>
        <p:cNvGrpSpPr/>
        <p:nvPr/>
      </p:nvGrpSpPr>
      <p:grpSpPr>
        <a:xfrm>
          <a:off x="0" y="0"/>
          <a:ext cx="0" cy="0"/>
          <a:chOff x="0" y="0"/>
          <a:chExt cx="0" cy="0"/>
        </a:xfrm>
      </p:grpSpPr>
      <p:grpSp>
        <p:nvGrpSpPr>
          <p:cNvPr name="Group 2" id="2"/>
          <p:cNvGrpSpPr/>
          <p:nvPr/>
        </p:nvGrpSpPr>
        <p:grpSpPr>
          <a:xfrm rot="0">
            <a:off x="-695010" y="-326959"/>
            <a:ext cx="19678020" cy="10940917"/>
            <a:chOff x="0" y="0"/>
            <a:chExt cx="26237360" cy="14587890"/>
          </a:xfrm>
        </p:grpSpPr>
        <p:sp>
          <p:nvSpPr>
            <p:cNvPr name="Freeform 3" id="3"/>
            <p:cNvSpPr/>
            <p:nvPr/>
          </p:nvSpPr>
          <p:spPr>
            <a:xfrm flipH="false" flipV="false" rot="0">
              <a:off x="0" y="0"/>
              <a:ext cx="14587890" cy="14587890"/>
            </a:xfrm>
            <a:custGeom>
              <a:avLst/>
              <a:gdLst/>
              <a:ahLst/>
              <a:cxnLst/>
              <a:rect r="r" b="b" t="t" l="l"/>
              <a:pathLst>
                <a:path h="14587890" w="14587890">
                  <a:moveTo>
                    <a:pt x="0" y="0"/>
                  </a:moveTo>
                  <a:lnTo>
                    <a:pt x="14587890" y="0"/>
                  </a:lnTo>
                  <a:lnTo>
                    <a:pt x="14587890"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49471" y="0"/>
              <a:ext cx="14587890" cy="14587890"/>
            </a:xfrm>
            <a:custGeom>
              <a:avLst/>
              <a:gdLst/>
              <a:ahLst/>
              <a:cxnLst/>
              <a:rect r="r" b="b" t="t" l="l"/>
              <a:pathLst>
                <a:path h="14587890" w="14587890">
                  <a:moveTo>
                    <a:pt x="0" y="0"/>
                  </a:moveTo>
                  <a:lnTo>
                    <a:pt x="14587889" y="0"/>
                  </a:lnTo>
                  <a:lnTo>
                    <a:pt x="14587889" y="14587890"/>
                  </a:lnTo>
                  <a:lnTo>
                    <a:pt x="0" y="1458789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68746">
            <a:off x="15371315" y="-394186"/>
            <a:ext cx="6494140" cy="3695756"/>
          </a:xfrm>
          <a:custGeom>
            <a:avLst/>
            <a:gdLst/>
            <a:ahLst/>
            <a:cxnLst/>
            <a:rect r="r" b="b" t="t" l="l"/>
            <a:pathLst>
              <a:path h="3695756" w="6494140">
                <a:moveTo>
                  <a:pt x="0" y="0"/>
                </a:moveTo>
                <a:lnTo>
                  <a:pt x="6494140" y="0"/>
                </a:lnTo>
                <a:lnTo>
                  <a:pt x="6494140" y="3695756"/>
                </a:lnTo>
                <a:lnTo>
                  <a:pt x="0" y="3695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35036">
            <a:off x="-630817" y="413866"/>
            <a:ext cx="3027954" cy="2956384"/>
          </a:xfrm>
          <a:custGeom>
            <a:avLst/>
            <a:gdLst/>
            <a:ahLst/>
            <a:cxnLst/>
            <a:rect r="r" b="b" t="t" l="l"/>
            <a:pathLst>
              <a:path h="2956384" w="3027954">
                <a:moveTo>
                  <a:pt x="0" y="0"/>
                </a:moveTo>
                <a:lnTo>
                  <a:pt x="3027953" y="0"/>
                </a:lnTo>
                <a:lnTo>
                  <a:pt x="3027953" y="2956384"/>
                </a:lnTo>
                <a:lnTo>
                  <a:pt x="0" y="2956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911461" y="8285165"/>
            <a:ext cx="20426207" cy="3086100"/>
            <a:chOff x="0" y="0"/>
            <a:chExt cx="5379742" cy="812800"/>
          </a:xfrm>
        </p:grpSpPr>
        <p:sp>
          <p:nvSpPr>
            <p:cNvPr name="Freeform 8" id="8"/>
            <p:cNvSpPr/>
            <p:nvPr/>
          </p:nvSpPr>
          <p:spPr>
            <a:xfrm flipH="false" flipV="false" rot="0">
              <a:off x="0" y="0"/>
              <a:ext cx="5379742" cy="812800"/>
            </a:xfrm>
            <a:custGeom>
              <a:avLst/>
              <a:gdLst/>
              <a:ahLst/>
              <a:cxnLst/>
              <a:rect r="r" b="b" t="t" l="l"/>
              <a:pathLst>
                <a:path h="812800" w="5379742">
                  <a:moveTo>
                    <a:pt x="0" y="0"/>
                  </a:moveTo>
                  <a:lnTo>
                    <a:pt x="5379742" y="0"/>
                  </a:lnTo>
                  <a:lnTo>
                    <a:pt x="5379742" y="812800"/>
                  </a:lnTo>
                  <a:lnTo>
                    <a:pt x="0" y="812800"/>
                  </a:lnTo>
                  <a:close/>
                </a:path>
              </a:pathLst>
            </a:custGeom>
            <a:solidFill>
              <a:srgbClr val="241B4F"/>
            </a:solidFill>
          </p:spPr>
        </p:sp>
        <p:sp>
          <p:nvSpPr>
            <p:cNvPr name="TextBox 9" id="9"/>
            <p:cNvSpPr txBox="true"/>
            <p:nvPr/>
          </p:nvSpPr>
          <p:spPr>
            <a:xfrm>
              <a:off x="0" y="-47625"/>
              <a:ext cx="5379742" cy="860425"/>
            </a:xfrm>
            <a:prstGeom prst="rect">
              <a:avLst/>
            </a:prstGeom>
          </p:spPr>
          <p:txBody>
            <a:bodyPr anchor="ctr" rtlCol="false" tIns="50800" lIns="50800" bIns="50800" rIns="50800"/>
            <a:lstStyle/>
            <a:p>
              <a:pPr algn="ctr">
                <a:lnSpc>
                  <a:spcPts val="3116"/>
                </a:lnSpc>
              </a:pPr>
            </a:p>
          </p:txBody>
        </p:sp>
      </p:grpSp>
      <p:sp>
        <p:nvSpPr>
          <p:cNvPr name="Freeform 10" id="10"/>
          <p:cNvSpPr/>
          <p:nvPr/>
        </p:nvSpPr>
        <p:spPr>
          <a:xfrm flipH="false" flipV="false" rot="-128760">
            <a:off x="5542906" y="4566129"/>
            <a:ext cx="7202189" cy="4766539"/>
          </a:xfrm>
          <a:custGeom>
            <a:avLst/>
            <a:gdLst/>
            <a:ahLst/>
            <a:cxnLst/>
            <a:rect r="r" b="b" t="t" l="l"/>
            <a:pathLst>
              <a:path h="4766539" w="7202189">
                <a:moveTo>
                  <a:pt x="0" y="0"/>
                </a:moveTo>
                <a:lnTo>
                  <a:pt x="7202188" y="0"/>
                </a:lnTo>
                <a:lnTo>
                  <a:pt x="7202188" y="4766539"/>
                </a:lnTo>
                <a:lnTo>
                  <a:pt x="0" y="47665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429399" y="1611216"/>
            <a:ext cx="13429203" cy="2273759"/>
          </a:xfrm>
          <a:prstGeom prst="rect">
            <a:avLst/>
          </a:prstGeom>
        </p:spPr>
        <p:txBody>
          <a:bodyPr anchor="t" rtlCol="false" tIns="0" lIns="0" bIns="0" rIns="0">
            <a:spAutoFit/>
          </a:bodyPr>
          <a:lstStyle/>
          <a:p>
            <a:pPr algn="ctr">
              <a:lnSpc>
                <a:spcPts val="15395"/>
              </a:lnSpc>
            </a:pPr>
            <a:r>
              <a:rPr lang="en-US" sz="17298">
                <a:solidFill>
                  <a:srgbClr val="FFFFFF"/>
                </a:solidFill>
                <a:latin typeface="Adumu Regular"/>
                <a:ea typeface="Adumu Regular"/>
                <a:cs typeface="Adumu Regular"/>
                <a:sym typeface="Adumu Regular"/>
              </a:rPr>
              <a:t>Thank You</a:t>
            </a:r>
          </a:p>
        </p:txBody>
      </p:sp>
      <p:sp>
        <p:nvSpPr>
          <p:cNvPr name="Freeform 12" id="12"/>
          <p:cNvSpPr/>
          <p:nvPr/>
        </p:nvSpPr>
        <p:spPr>
          <a:xfrm flipH="true" flipV="false" rot="0">
            <a:off x="11855770" y="4042149"/>
            <a:ext cx="8253164" cy="8374982"/>
          </a:xfrm>
          <a:custGeom>
            <a:avLst/>
            <a:gdLst/>
            <a:ahLst/>
            <a:cxnLst/>
            <a:rect r="r" b="b" t="t" l="l"/>
            <a:pathLst>
              <a:path h="8374982" w="8253164">
                <a:moveTo>
                  <a:pt x="8253164" y="0"/>
                </a:moveTo>
                <a:lnTo>
                  <a:pt x="0" y="0"/>
                </a:lnTo>
                <a:lnTo>
                  <a:pt x="0" y="8374981"/>
                </a:lnTo>
                <a:lnTo>
                  <a:pt x="8253164" y="8374981"/>
                </a:lnTo>
                <a:lnTo>
                  <a:pt x="825316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203150">
            <a:off x="-1152509" y="4087501"/>
            <a:ext cx="7062118" cy="6895195"/>
          </a:xfrm>
          <a:custGeom>
            <a:avLst/>
            <a:gdLst/>
            <a:ahLst/>
            <a:cxnLst/>
            <a:rect r="r" b="b" t="t" l="l"/>
            <a:pathLst>
              <a:path h="6895195" w="7062118">
                <a:moveTo>
                  <a:pt x="0" y="0"/>
                </a:moveTo>
                <a:lnTo>
                  <a:pt x="7062118" y="0"/>
                </a:lnTo>
                <a:lnTo>
                  <a:pt x="7062118" y="6895195"/>
                </a:lnTo>
                <a:lnTo>
                  <a:pt x="0" y="68951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129763">
            <a:off x="2504652" y="7295175"/>
            <a:ext cx="13689725" cy="431565"/>
          </a:xfrm>
          <a:prstGeom prst="rect">
            <a:avLst/>
          </a:prstGeom>
        </p:spPr>
        <p:txBody>
          <a:bodyPr anchor="t" rtlCol="false" tIns="0" lIns="0" bIns="0" rIns="0">
            <a:spAutoFit/>
          </a:bodyPr>
          <a:lstStyle/>
          <a:p>
            <a:pPr algn="ctr">
              <a:lnSpc>
                <a:spcPts val="2865"/>
              </a:lnSpc>
            </a:pPr>
            <a:r>
              <a:rPr lang="en-US" sz="3219">
                <a:solidFill>
                  <a:srgbClr val="44419A"/>
                </a:solidFill>
                <a:latin typeface="Adumu Regular"/>
                <a:ea typeface="Adumu Regular"/>
                <a:cs typeface="Adumu Regular"/>
                <a:sym typeface="Adumu Regular"/>
              </a:rPr>
              <a:t>Presented By- Navneet Narayan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DAGxRGtc954</dc:identifier>
  <dcterms:modified xsi:type="dcterms:W3CDTF">2011-08-01T06:04:30Z</dcterms:modified>
  <cp:revision>1</cp:revision>
  <dc:title>Purple and Pink Playful Finance Presentation</dc:title>
</cp:coreProperties>
</file>